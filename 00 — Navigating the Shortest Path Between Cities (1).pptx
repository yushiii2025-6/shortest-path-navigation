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F3F3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F3F3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14175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F3F3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090" y="3768073"/>
            <a:ext cx="8276590" cy="566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090" y="1340033"/>
            <a:ext cx="7563484" cy="278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10101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7489" y="2488580"/>
            <a:ext cx="7517130" cy="31000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dirty="0" sz="4450" spc="645"/>
              <a:t>00</a:t>
            </a:r>
            <a:r>
              <a:rPr dirty="0" sz="4450" spc="-80"/>
              <a:t> </a:t>
            </a:r>
            <a:r>
              <a:rPr dirty="0" sz="4450" spc="-490"/>
              <a:t>—</a:t>
            </a:r>
            <a:r>
              <a:rPr dirty="0" sz="4450" spc="-75"/>
              <a:t> </a:t>
            </a:r>
            <a:r>
              <a:rPr dirty="0" sz="4450" spc="100"/>
              <a:t>Navigating</a:t>
            </a:r>
            <a:r>
              <a:rPr dirty="0" sz="4450" spc="-125"/>
              <a:t> </a:t>
            </a:r>
            <a:r>
              <a:rPr dirty="0" sz="4450" spc="150"/>
              <a:t>the </a:t>
            </a:r>
            <a:r>
              <a:rPr dirty="0" sz="4450" spc="170"/>
              <a:t>Shortest</a:t>
            </a:r>
            <a:r>
              <a:rPr dirty="0" sz="4450" spc="-95"/>
              <a:t> </a:t>
            </a:r>
            <a:r>
              <a:rPr dirty="0" sz="4450" spc="110"/>
              <a:t>Path</a:t>
            </a:r>
            <a:r>
              <a:rPr dirty="0" sz="4450" spc="-70"/>
              <a:t> </a:t>
            </a:r>
            <a:r>
              <a:rPr dirty="0" sz="4450" spc="175"/>
              <a:t>Between</a:t>
            </a:r>
            <a:r>
              <a:rPr dirty="0" sz="4450" spc="-70"/>
              <a:t> </a:t>
            </a:r>
            <a:r>
              <a:rPr dirty="0" sz="4450" spc="135"/>
              <a:t>Cities</a:t>
            </a:r>
            <a:endParaRPr sz="4450"/>
          </a:p>
          <a:p>
            <a:pPr marL="12700" marR="86995">
              <a:lnSpc>
                <a:spcPct val="162900"/>
              </a:lnSpc>
              <a:spcBef>
                <a:spcPts val="625"/>
              </a:spcBef>
            </a:pPr>
            <a:r>
              <a:rPr dirty="0" sz="1750" spc="10" b="0">
                <a:solidFill>
                  <a:srgbClr val="38383C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1750" spc="8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 b="0">
                <a:solidFill>
                  <a:srgbClr val="38383C"/>
                </a:solidFill>
                <a:latin typeface="Microsoft Sans Serif"/>
                <a:cs typeface="Microsoft Sans Serif"/>
              </a:rPr>
              <a:t>that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5" b="0">
                <a:solidFill>
                  <a:srgbClr val="38383C"/>
                </a:solidFill>
                <a:latin typeface="Microsoft Sans Serif"/>
                <a:cs typeface="Microsoft Sans Serif"/>
              </a:rPr>
              <a:t>turn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 b="0">
                <a:solidFill>
                  <a:srgbClr val="38383C"/>
                </a:solidFill>
                <a:latin typeface="Microsoft Sans Serif"/>
                <a:cs typeface="Microsoft Sans Serif"/>
              </a:rPr>
              <a:t>complex</a:t>
            </a:r>
            <a:r>
              <a:rPr dirty="0" sz="1750" spc="8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road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 b="0">
                <a:solidFill>
                  <a:srgbClr val="38383C"/>
                </a:solidFill>
                <a:latin typeface="Microsoft Sans Serif"/>
                <a:cs typeface="Microsoft Sans Serif"/>
              </a:rPr>
              <a:t>networks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 b="0">
                <a:solidFill>
                  <a:srgbClr val="38383C"/>
                </a:solidFill>
                <a:latin typeface="Microsoft Sans Serif"/>
                <a:cs typeface="Microsoft Sans Serif"/>
              </a:rPr>
              <a:t>into</a:t>
            </a:r>
            <a:r>
              <a:rPr dirty="0" sz="1750" spc="8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 b="0">
                <a:solidFill>
                  <a:srgbClr val="38383C"/>
                </a:solidFill>
                <a:latin typeface="Microsoft Sans Serif"/>
                <a:cs typeface="Microsoft Sans Serif"/>
              </a:rPr>
              <a:t>fast,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 b="0">
                <a:solidFill>
                  <a:srgbClr val="38383C"/>
                </a:solidFill>
                <a:latin typeface="Microsoft Sans Serif"/>
                <a:cs typeface="Microsoft Sans Serif"/>
              </a:rPr>
              <a:t>reliable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 b="0">
                <a:solidFill>
                  <a:srgbClr val="38383C"/>
                </a:solidFill>
                <a:latin typeface="Microsoft Sans Serif"/>
                <a:cs typeface="Microsoft Sans Serif"/>
              </a:rPr>
              <a:t>routes.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theory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to 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production: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 b="0">
                <a:solidFill>
                  <a:srgbClr val="38383C"/>
                </a:solidFill>
                <a:latin typeface="Microsoft Sans Serif"/>
                <a:cs typeface="Microsoft Sans Serif"/>
              </a:rPr>
              <a:t>how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we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compute,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optimize,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 b="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 b="0">
                <a:solidFill>
                  <a:srgbClr val="38383C"/>
                </a:solidFill>
                <a:latin typeface="Microsoft Sans Serif"/>
                <a:cs typeface="Microsoft Sans Serif"/>
              </a:rPr>
              <a:t>present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 b="0">
                <a:solidFill>
                  <a:srgbClr val="38383C"/>
                </a:solidFill>
                <a:latin typeface="Microsoft Sans Serif"/>
                <a:cs typeface="Microsoft Sans Serif"/>
              </a:rPr>
              <a:t>the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best</a:t>
            </a:r>
            <a:r>
              <a:rPr dirty="0" sz="1750" spc="70" b="0">
                <a:solidFill>
                  <a:srgbClr val="38383C"/>
                </a:solidFill>
                <a:latin typeface="Microsoft Sans Serif"/>
                <a:cs typeface="Microsoft Sans Serif"/>
              </a:rPr>
              <a:t> path </a:t>
            </a:r>
            <a:r>
              <a:rPr dirty="0" sz="1750" spc="90" b="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7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drivers,</a:t>
            </a:r>
            <a:r>
              <a:rPr dirty="0" sz="1750" spc="7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walkers,</a:t>
            </a:r>
            <a:r>
              <a:rPr dirty="0" sz="1750" spc="7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 b="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70" b="0">
                <a:solidFill>
                  <a:srgbClr val="38383C"/>
                </a:solidFill>
                <a:latin typeface="Microsoft Sans Serif"/>
                <a:cs typeface="Microsoft Sans Serif"/>
              </a:rPr>
              <a:t> multimodal </a:t>
            </a:r>
            <a:r>
              <a:rPr dirty="0" sz="1750" spc="-10" b="0">
                <a:solidFill>
                  <a:srgbClr val="38383C"/>
                </a:solidFill>
                <a:latin typeface="Microsoft Sans Serif"/>
                <a:cs typeface="Microsoft Sans Serif"/>
              </a:rPr>
              <a:t>travelers.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90" y="2602690"/>
            <a:ext cx="8037830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160"/>
              <a:t> </a:t>
            </a:r>
            <a:r>
              <a:rPr dirty="0" spc="120"/>
              <a:t>Finding</a:t>
            </a:r>
            <a:r>
              <a:rPr dirty="0" spc="-95"/>
              <a:t> </a:t>
            </a:r>
            <a:r>
              <a:rPr dirty="0" spc="140"/>
              <a:t>the</a:t>
            </a:r>
            <a:r>
              <a:rPr dirty="0" spc="-60"/>
              <a:t> </a:t>
            </a:r>
            <a:r>
              <a:rPr dirty="0" spc="130"/>
              <a:t>Shortest</a:t>
            </a:r>
            <a:r>
              <a:rPr dirty="0" spc="-85"/>
              <a:t> </a:t>
            </a:r>
            <a:r>
              <a:rPr dirty="0" spc="90"/>
              <a:t>Path</a:t>
            </a:r>
            <a:r>
              <a:rPr dirty="0" spc="-85"/>
              <a:t> </a:t>
            </a:r>
            <a:r>
              <a:rPr dirty="0" spc="55"/>
              <a:t>Matters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90" y="3654028"/>
            <a:ext cx="914875" cy="56542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979453" y="3630152"/>
            <a:ext cx="2396490" cy="208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38383C"/>
                </a:solidFill>
                <a:latin typeface="Times New Roman"/>
                <a:cs typeface="Times New Roman"/>
              </a:rPr>
              <a:t>Save</a:t>
            </a:r>
            <a:r>
              <a:rPr dirty="0" sz="2200" spc="-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90" b="1">
                <a:solidFill>
                  <a:srgbClr val="38383C"/>
                </a:solidFill>
                <a:latin typeface="Times New Roman"/>
                <a:cs typeface="Times New Roman"/>
              </a:rPr>
              <a:t>time</a:t>
            </a:r>
            <a:r>
              <a:rPr dirty="0" sz="2200" spc="2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125" b="1">
                <a:solidFill>
                  <a:srgbClr val="38383C"/>
                </a:solidFill>
                <a:latin typeface="Times New Roman"/>
                <a:cs typeface="Times New Roman"/>
              </a:rPr>
              <a:t>&amp;</a:t>
            </a:r>
            <a:r>
              <a:rPr dirty="0" sz="2200" spc="2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55" b="1">
                <a:solidFill>
                  <a:srgbClr val="38383C"/>
                </a:solidFill>
                <a:latin typeface="Times New Roman"/>
                <a:cs typeface="Times New Roman"/>
              </a:rPr>
              <a:t>fuel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routes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reduce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travel</a:t>
            </a:r>
            <a:r>
              <a:rPr dirty="0" sz="175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time,</a:t>
            </a:r>
            <a:r>
              <a:rPr dirty="0" sz="1750" spc="1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30">
                <a:solidFill>
                  <a:srgbClr val="38383C"/>
                </a:solidFill>
                <a:latin typeface="Microsoft Sans Serif"/>
                <a:cs typeface="Microsoft Sans Serif"/>
              </a:rPr>
              <a:t>fuel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consumption,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30">
                <a:solidFill>
                  <a:srgbClr val="38383C"/>
                </a:solidFill>
                <a:latin typeface="Microsoft Sans Serif"/>
                <a:cs typeface="Microsoft Sans Serif"/>
              </a:rPr>
              <a:t>CO2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emissions.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5893" y="3654028"/>
            <a:ext cx="914876" cy="56542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421557" y="3630152"/>
            <a:ext cx="267208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75" b="1">
                <a:solidFill>
                  <a:srgbClr val="38383C"/>
                </a:solidFill>
                <a:latin typeface="Times New Roman"/>
                <a:cs typeface="Times New Roman"/>
              </a:rPr>
              <a:t>Scale</a:t>
            </a:r>
            <a:r>
              <a:rPr dirty="0" sz="2200" spc="-4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125" b="1">
                <a:solidFill>
                  <a:srgbClr val="38383C"/>
                </a:solidFill>
                <a:latin typeface="Times New Roman"/>
                <a:cs typeface="Times New Roman"/>
              </a:rPr>
              <a:t>&amp;</a:t>
            </a:r>
            <a:r>
              <a:rPr dirty="0" sz="2200" spc="-4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50" b="1">
                <a:solidFill>
                  <a:srgbClr val="38383C"/>
                </a:solidFill>
                <a:latin typeface="Times New Roman"/>
                <a:cs typeface="Times New Roman"/>
              </a:rPr>
              <a:t>reliability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Navigation</a:t>
            </a:r>
            <a:r>
              <a:rPr dirty="0" sz="1750" spc="1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must</a:t>
            </a:r>
            <a:r>
              <a:rPr dirty="0" sz="1750" spc="1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work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across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millions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trips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on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ever-changing</a:t>
            </a:r>
            <a:r>
              <a:rPr dirty="0" sz="1750" spc="25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networks.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7995" y="3654028"/>
            <a:ext cx="914875" cy="56542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863659" y="3630152"/>
            <a:ext cx="297180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95" b="1">
                <a:solidFill>
                  <a:srgbClr val="38383C"/>
                </a:solidFill>
                <a:latin typeface="Times New Roman"/>
                <a:cs typeface="Times New Roman"/>
              </a:rPr>
              <a:t>Economic</a:t>
            </a:r>
            <a:r>
              <a:rPr dirty="0" sz="2200" spc="-2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75" b="1">
                <a:solidFill>
                  <a:srgbClr val="38383C"/>
                </a:solidFill>
                <a:latin typeface="Times New Roman"/>
                <a:cs typeface="Times New Roman"/>
              </a:rPr>
              <a:t>impact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Faster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deliveries,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better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30">
                <a:solidFill>
                  <a:srgbClr val="38383C"/>
                </a:solidFill>
                <a:latin typeface="Microsoft Sans Serif"/>
                <a:cs typeface="Microsoft Sans Serif"/>
              </a:rPr>
              <a:t>fleet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utilization,</a:t>
            </a:r>
            <a:r>
              <a:rPr dirty="0" sz="1750" spc="1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1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lower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750" spc="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cost.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5400"/>
              </a:lnSpc>
              <a:spcBef>
                <a:spcPts val="95"/>
              </a:spcBef>
            </a:pPr>
            <a:r>
              <a:rPr dirty="0" spc="120"/>
              <a:t>The</a:t>
            </a:r>
            <a:r>
              <a:rPr dirty="0" spc="-55"/>
              <a:t> </a:t>
            </a:r>
            <a:r>
              <a:rPr dirty="0" spc="130"/>
              <a:t>Shortest</a:t>
            </a:r>
            <a:r>
              <a:rPr dirty="0" spc="-70"/>
              <a:t> </a:t>
            </a:r>
            <a:r>
              <a:rPr dirty="0" spc="90"/>
              <a:t>Path</a:t>
            </a:r>
            <a:r>
              <a:rPr dirty="0" spc="-55"/>
              <a:t> </a:t>
            </a:r>
            <a:r>
              <a:rPr dirty="0" spc="125"/>
              <a:t>Problem</a:t>
            </a:r>
            <a:r>
              <a:rPr dirty="0" spc="-50"/>
              <a:t> </a:t>
            </a:r>
            <a:r>
              <a:rPr dirty="0" spc="160"/>
              <a:t>in</a:t>
            </a:r>
            <a:r>
              <a:rPr dirty="0" spc="-80"/>
              <a:t> </a:t>
            </a:r>
            <a:r>
              <a:rPr dirty="0" spc="50"/>
              <a:t>Graph </a:t>
            </a:r>
            <a:r>
              <a:rPr dirty="0" spc="100"/>
              <a:t>Theory</a:t>
            </a:r>
          </a:p>
          <a:p>
            <a:pPr algn="just" marL="12700" marR="118745">
              <a:lnSpc>
                <a:spcPct val="162900"/>
              </a:lnSpc>
              <a:spcBef>
                <a:spcPts val="760"/>
              </a:spcBef>
            </a:pPr>
            <a:r>
              <a:rPr dirty="0" sz="1750" spc="50" b="0">
                <a:solidFill>
                  <a:srgbClr val="38383C"/>
                </a:solidFill>
                <a:latin typeface="Microsoft Sans Serif"/>
                <a:cs typeface="Microsoft Sans Serif"/>
              </a:rPr>
              <a:t>Model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roads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as</a:t>
            </a:r>
            <a:r>
              <a:rPr dirty="0" sz="1750" spc="3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graph: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nodes</a:t>
            </a:r>
            <a:r>
              <a:rPr dirty="0" sz="1750" spc="3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=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intersections/cities,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 b="0">
                <a:solidFill>
                  <a:srgbClr val="38383C"/>
                </a:solidFill>
                <a:latin typeface="Microsoft Sans Serif"/>
                <a:cs typeface="Microsoft Sans Serif"/>
              </a:rPr>
              <a:t>edges</a:t>
            </a:r>
            <a:r>
              <a:rPr dirty="0" sz="1750" spc="3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=</a:t>
            </a:r>
            <a:r>
              <a:rPr dirty="0" sz="1750" spc="2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0" b="0">
                <a:solidFill>
                  <a:srgbClr val="38383C"/>
                </a:solidFill>
                <a:latin typeface="Microsoft Sans Serif"/>
                <a:cs typeface="Microsoft Sans Serif"/>
              </a:rPr>
              <a:t>roads</a:t>
            </a:r>
            <a:r>
              <a:rPr dirty="0" sz="1750" spc="3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with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weights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(distance,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 b="0">
                <a:solidFill>
                  <a:srgbClr val="38383C"/>
                </a:solidFill>
                <a:latin typeface="Microsoft Sans Serif"/>
                <a:cs typeface="Microsoft Sans Serif"/>
              </a:rPr>
              <a:t>time,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toll).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objective: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compute 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 b="0">
                <a:solidFill>
                  <a:srgbClr val="38383C"/>
                </a:solidFill>
                <a:latin typeface="Microsoft Sans Serif"/>
                <a:cs typeface="Microsoft Sans Serif"/>
              </a:rPr>
              <a:t>path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 b="0">
                <a:solidFill>
                  <a:srgbClr val="38383C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 b="0">
                <a:solidFill>
                  <a:srgbClr val="38383C"/>
                </a:solidFill>
                <a:latin typeface="Microsoft Sans Serif"/>
                <a:cs typeface="Microsoft Sans Serif"/>
              </a:rPr>
              <a:t>source </a:t>
            </a:r>
            <a:r>
              <a:rPr dirty="0" sz="1750" spc="95" b="0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 b="0">
                <a:solidFill>
                  <a:srgbClr val="38383C"/>
                </a:solidFill>
                <a:latin typeface="Microsoft Sans Serif"/>
                <a:cs typeface="Microsoft Sans Serif"/>
              </a:rPr>
              <a:t>destination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 b="0">
                <a:solidFill>
                  <a:srgbClr val="38383C"/>
                </a:solidFill>
                <a:latin typeface="Microsoft Sans Serif"/>
                <a:cs typeface="Microsoft Sans Serif"/>
              </a:rPr>
              <a:t>minimizing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 b="0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 b="0">
                <a:solidFill>
                  <a:srgbClr val="38383C"/>
                </a:solidFill>
                <a:latin typeface="Microsoft Sans Serif"/>
                <a:cs typeface="Microsoft Sans Serif"/>
              </a:rPr>
              <a:t>sum</a:t>
            </a:r>
            <a:r>
              <a:rPr dirty="0" sz="1750" spc="5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 b="0">
                <a:solidFill>
                  <a:srgbClr val="38383C"/>
                </a:solidFill>
                <a:latin typeface="Microsoft Sans Serif"/>
                <a:cs typeface="Microsoft Sans Serif"/>
              </a:rPr>
              <a:t>of</a:t>
            </a:r>
            <a:r>
              <a:rPr dirty="0" sz="1750" b="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 b="0">
                <a:solidFill>
                  <a:srgbClr val="38383C"/>
                </a:solidFill>
                <a:latin typeface="Microsoft Sans Serif"/>
                <a:cs typeface="Microsoft Sans Serif"/>
              </a:rPr>
              <a:t>weights.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93790" y="4325897"/>
            <a:ext cx="2367915" cy="2395855"/>
          </a:xfrm>
          <a:custGeom>
            <a:avLst/>
            <a:gdLst/>
            <a:ahLst/>
            <a:cxnLst/>
            <a:rect l="l" t="t" r="r" b="b"/>
            <a:pathLst>
              <a:path w="2367915" h="2395854">
                <a:moveTo>
                  <a:pt x="2333536" y="2395656"/>
                </a:moveTo>
                <a:lnTo>
                  <a:pt x="34021" y="2395656"/>
                </a:lnTo>
                <a:lnTo>
                  <a:pt x="20778" y="2392983"/>
                </a:lnTo>
                <a:lnTo>
                  <a:pt x="9964" y="2385691"/>
                </a:lnTo>
                <a:lnTo>
                  <a:pt x="2673" y="2374877"/>
                </a:lnTo>
                <a:lnTo>
                  <a:pt x="0" y="2361634"/>
                </a:lnTo>
                <a:lnTo>
                  <a:pt x="0" y="34021"/>
                </a:lnTo>
                <a:lnTo>
                  <a:pt x="2673" y="20779"/>
                </a:lnTo>
                <a:lnTo>
                  <a:pt x="9964" y="9964"/>
                </a:lnTo>
                <a:lnTo>
                  <a:pt x="20778" y="2673"/>
                </a:lnTo>
                <a:lnTo>
                  <a:pt x="34021" y="0"/>
                </a:lnTo>
                <a:lnTo>
                  <a:pt x="2333536" y="0"/>
                </a:lnTo>
                <a:lnTo>
                  <a:pt x="2366898" y="27353"/>
                </a:lnTo>
                <a:lnTo>
                  <a:pt x="2367557" y="34021"/>
                </a:lnTo>
                <a:lnTo>
                  <a:pt x="2367557" y="2361634"/>
                </a:lnTo>
                <a:lnTo>
                  <a:pt x="2364884" y="2374877"/>
                </a:lnTo>
                <a:lnTo>
                  <a:pt x="2357593" y="2385691"/>
                </a:lnTo>
                <a:lnTo>
                  <a:pt x="2346778" y="2392983"/>
                </a:lnTo>
                <a:lnTo>
                  <a:pt x="2333536" y="2395656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07903" y="4528835"/>
            <a:ext cx="178308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40" b="1">
                <a:solidFill>
                  <a:srgbClr val="38383C"/>
                </a:solidFill>
                <a:latin typeface="Times New Roman"/>
                <a:cs typeface="Times New Roman"/>
              </a:rPr>
              <a:t>Weights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Distance,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travel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time,</a:t>
            </a:r>
            <a:r>
              <a:rPr dirty="0" sz="1750" spc="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cost,</a:t>
            </a:r>
            <a:r>
              <a:rPr dirty="0" sz="1750" spc="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or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composite</a:t>
            </a:r>
            <a:r>
              <a:rPr dirty="0" sz="1750" spc="4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score.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388161" y="4325897"/>
            <a:ext cx="2367915" cy="2395855"/>
          </a:xfrm>
          <a:custGeom>
            <a:avLst/>
            <a:gdLst/>
            <a:ahLst/>
            <a:cxnLst/>
            <a:rect l="l" t="t" r="r" b="b"/>
            <a:pathLst>
              <a:path w="2367915" h="2395854">
                <a:moveTo>
                  <a:pt x="2333535" y="2395656"/>
                </a:moveTo>
                <a:lnTo>
                  <a:pt x="34021" y="2395656"/>
                </a:lnTo>
                <a:lnTo>
                  <a:pt x="20779" y="2392983"/>
                </a:lnTo>
                <a:lnTo>
                  <a:pt x="9964" y="2385691"/>
                </a:lnTo>
                <a:lnTo>
                  <a:pt x="2673" y="2374877"/>
                </a:lnTo>
                <a:lnTo>
                  <a:pt x="0" y="2361634"/>
                </a:lnTo>
                <a:lnTo>
                  <a:pt x="0" y="34021"/>
                </a:lnTo>
                <a:lnTo>
                  <a:pt x="2673" y="20779"/>
                </a:lnTo>
                <a:lnTo>
                  <a:pt x="9964" y="9964"/>
                </a:lnTo>
                <a:lnTo>
                  <a:pt x="20779" y="2673"/>
                </a:lnTo>
                <a:lnTo>
                  <a:pt x="34021" y="0"/>
                </a:lnTo>
                <a:lnTo>
                  <a:pt x="2333535" y="0"/>
                </a:lnTo>
                <a:lnTo>
                  <a:pt x="2366898" y="27353"/>
                </a:lnTo>
                <a:lnTo>
                  <a:pt x="2367557" y="34021"/>
                </a:lnTo>
                <a:lnTo>
                  <a:pt x="2367557" y="2361634"/>
                </a:lnTo>
                <a:lnTo>
                  <a:pt x="2364884" y="2374877"/>
                </a:lnTo>
                <a:lnTo>
                  <a:pt x="2357593" y="2385691"/>
                </a:lnTo>
                <a:lnTo>
                  <a:pt x="2346778" y="2392983"/>
                </a:lnTo>
                <a:lnTo>
                  <a:pt x="2333535" y="2395656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602275" y="4528835"/>
            <a:ext cx="1760855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70" b="1">
                <a:solidFill>
                  <a:srgbClr val="38383C"/>
                </a:solidFill>
                <a:latin typeface="Times New Roman"/>
                <a:cs typeface="Times New Roman"/>
              </a:rPr>
              <a:t>Constraints</a:t>
            </a:r>
            <a:endParaRPr sz="2200">
              <a:latin typeface="Times New Roman"/>
              <a:cs typeface="Times New Roman"/>
            </a:endParaRPr>
          </a:p>
          <a:p>
            <a:pPr algn="just"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One-way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streets,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closures,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vehicle restrictions.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982532" y="4325897"/>
            <a:ext cx="2367915" cy="2395855"/>
          </a:xfrm>
          <a:custGeom>
            <a:avLst/>
            <a:gdLst/>
            <a:ahLst/>
            <a:cxnLst/>
            <a:rect l="l" t="t" r="r" b="b"/>
            <a:pathLst>
              <a:path w="2367915" h="2395854">
                <a:moveTo>
                  <a:pt x="2333536" y="2395656"/>
                </a:moveTo>
                <a:lnTo>
                  <a:pt x="34021" y="2395656"/>
                </a:lnTo>
                <a:lnTo>
                  <a:pt x="20779" y="2392983"/>
                </a:lnTo>
                <a:lnTo>
                  <a:pt x="9964" y="2385691"/>
                </a:lnTo>
                <a:lnTo>
                  <a:pt x="2673" y="2374877"/>
                </a:lnTo>
                <a:lnTo>
                  <a:pt x="0" y="2361634"/>
                </a:lnTo>
                <a:lnTo>
                  <a:pt x="0" y="34021"/>
                </a:lnTo>
                <a:lnTo>
                  <a:pt x="2673" y="20779"/>
                </a:lnTo>
                <a:lnTo>
                  <a:pt x="9964" y="9964"/>
                </a:lnTo>
                <a:lnTo>
                  <a:pt x="20779" y="2673"/>
                </a:lnTo>
                <a:lnTo>
                  <a:pt x="34021" y="0"/>
                </a:lnTo>
                <a:lnTo>
                  <a:pt x="2333536" y="0"/>
                </a:lnTo>
                <a:lnTo>
                  <a:pt x="2366898" y="27353"/>
                </a:lnTo>
                <a:lnTo>
                  <a:pt x="2367557" y="34021"/>
                </a:lnTo>
                <a:lnTo>
                  <a:pt x="2367557" y="2361634"/>
                </a:lnTo>
                <a:lnTo>
                  <a:pt x="2364884" y="2374877"/>
                </a:lnTo>
                <a:lnTo>
                  <a:pt x="2357593" y="2385691"/>
                </a:lnTo>
                <a:lnTo>
                  <a:pt x="2346779" y="2392983"/>
                </a:lnTo>
                <a:lnTo>
                  <a:pt x="2333536" y="2395656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96647" y="4528835"/>
            <a:ext cx="1916430" cy="252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65" b="1">
                <a:solidFill>
                  <a:srgbClr val="38383C"/>
                </a:solidFill>
                <a:latin typeface="Times New Roman"/>
                <a:cs typeface="Times New Roman"/>
              </a:rPr>
              <a:t>Scale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City</a:t>
            </a:r>
            <a:r>
              <a:rPr dirty="0" sz="1750" spc="-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5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38383C"/>
                </a:solidFill>
                <a:latin typeface="Microsoft Sans Serif"/>
                <a:cs typeface="Microsoft Sans Serif"/>
              </a:rPr>
              <a:t>continent—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algorit 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hm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 choice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depends</a:t>
            </a:r>
            <a:r>
              <a:rPr dirty="0" sz="1750" spc="13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graph size.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968" y="573778"/>
            <a:ext cx="6663055" cy="551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55"/>
              <a:t>Dijkstra’s</a:t>
            </a:r>
            <a:r>
              <a:rPr dirty="0" sz="3450" spc="-180"/>
              <a:t> </a:t>
            </a:r>
            <a:r>
              <a:rPr dirty="0" sz="3450" spc="70"/>
              <a:t>Algorithm:</a:t>
            </a:r>
            <a:r>
              <a:rPr dirty="0" sz="3450" spc="-120"/>
              <a:t> </a:t>
            </a:r>
            <a:r>
              <a:rPr dirty="0" sz="3450" spc="114"/>
              <a:t>The</a:t>
            </a:r>
            <a:r>
              <a:rPr dirty="0" sz="3450" spc="-40"/>
              <a:t> </a:t>
            </a:r>
            <a:r>
              <a:rPr dirty="0" sz="3450" spc="105"/>
              <a:t>Classic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43268" y="1115750"/>
            <a:ext cx="12656820" cy="113728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25400" marR="17780">
              <a:lnSpc>
                <a:spcPct val="120500"/>
              </a:lnSpc>
              <a:spcBef>
                <a:spcPts val="975"/>
              </a:spcBef>
            </a:pPr>
            <a:r>
              <a:rPr dirty="0" sz="1700" spc="-1205">
                <a:solidFill>
                  <a:srgbClr val="38383C"/>
                </a:solidFill>
                <a:latin typeface="Microsoft Sans Serif"/>
                <a:cs typeface="Microsoft Sans Serif"/>
              </a:rPr>
              <a:t>D</a:t>
            </a:r>
            <a:r>
              <a:rPr dirty="0" baseline="13687" sz="5175" spc="-3254" b="1">
                <a:solidFill>
                  <a:srgbClr val="101014"/>
                </a:solidFill>
                <a:latin typeface="Times New Roman"/>
                <a:cs typeface="Times New Roman"/>
              </a:rPr>
              <a:t>W</a:t>
            </a:r>
            <a:r>
              <a:rPr dirty="0" sz="1700" spc="25">
                <a:solidFill>
                  <a:srgbClr val="38383C"/>
                </a:solidFill>
                <a:latin typeface="Microsoft Sans Serif"/>
                <a:cs typeface="Microsoft Sans Serif"/>
              </a:rPr>
              <a:t>ijk</a:t>
            </a:r>
            <a:r>
              <a:rPr dirty="0" sz="1700" spc="-705">
                <a:solidFill>
                  <a:srgbClr val="38383C"/>
                </a:solidFill>
                <a:latin typeface="Microsoft Sans Serif"/>
                <a:cs typeface="Microsoft Sans Serif"/>
              </a:rPr>
              <a:t>s</a:t>
            </a:r>
            <a:r>
              <a:rPr dirty="0" baseline="13687" sz="5175" spc="-1627" b="1">
                <a:solidFill>
                  <a:srgbClr val="101014"/>
                </a:solidFill>
                <a:latin typeface="Times New Roman"/>
                <a:cs typeface="Times New Roman"/>
              </a:rPr>
              <a:t>o</a:t>
            </a:r>
            <a:r>
              <a:rPr dirty="0" sz="1700" spc="25">
                <a:solidFill>
                  <a:srgbClr val="38383C"/>
                </a:solidFill>
                <a:latin typeface="Microsoft Sans Serif"/>
                <a:cs typeface="Microsoft Sans Serif"/>
              </a:rPr>
              <a:t>t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r</a:t>
            </a:r>
            <a:r>
              <a:rPr dirty="0" baseline="13687" sz="5175" spc="-2227" b="1">
                <a:solidFill>
                  <a:srgbClr val="101014"/>
                </a:solidFill>
                <a:latin typeface="Times New Roman"/>
                <a:cs typeface="Times New Roman"/>
              </a:rPr>
              <a:t>r</a:t>
            </a:r>
            <a:r>
              <a:rPr dirty="0" sz="1700" spc="30">
                <a:solidFill>
                  <a:srgbClr val="38383C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459">
                <a:solidFill>
                  <a:srgbClr val="38383C"/>
                </a:solidFill>
                <a:latin typeface="Microsoft Sans Serif"/>
                <a:cs typeface="Microsoft Sans Serif"/>
              </a:rPr>
              <a:t>(</a:t>
            </a:r>
            <a:r>
              <a:rPr dirty="0" baseline="13687" sz="5175" spc="-2317" b="1">
                <a:solidFill>
                  <a:srgbClr val="101014"/>
                </a:solidFill>
                <a:latin typeface="Times New Roman"/>
                <a:cs typeface="Times New Roman"/>
              </a:rPr>
              <a:t>k</a:t>
            </a:r>
            <a:r>
              <a:rPr dirty="0" sz="1700" spc="-5">
                <a:solidFill>
                  <a:srgbClr val="38383C"/>
                </a:solidFill>
                <a:latin typeface="Microsoft Sans Serif"/>
                <a:cs typeface="Microsoft Sans Serif"/>
              </a:rPr>
              <a:t>1</a:t>
            </a:r>
            <a:r>
              <a:rPr dirty="0" sz="1700" spc="-405">
                <a:solidFill>
                  <a:srgbClr val="38383C"/>
                </a:solidFill>
                <a:latin typeface="Microsoft Sans Serif"/>
                <a:cs typeface="Microsoft Sans Serif"/>
              </a:rPr>
              <a:t>9</a:t>
            </a:r>
            <a:r>
              <a:rPr dirty="0" baseline="13687" sz="5175" spc="-2332" b="1">
                <a:solidFill>
                  <a:srgbClr val="101014"/>
                </a:solidFill>
                <a:latin typeface="Times New Roman"/>
                <a:cs typeface="Times New Roman"/>
              </a:rPr>
              <a:t>h</a:t>
            </a:r>
            <a:r>
              <a:rPr dirty="0" sz="1700" spc="-5">
                <a:solidFill>
                  <a:srgbClr val="38383C"/>
                </a:solidFill>
                <a:latin typeface="Microsoft Sans Serif"/>
                <a:cs typeface="Microsoft Sans Serif"/>
              </a:rPr>
              <a:t>5</a:t>
            </a:r>
            <a:r>
              <a:rPr dirty="0" sz="1700" spc="-250">
                <a:solidFill>
                  <a:srgbClr val="38383C"/>
                </a:solidFill>
                <a:latin typeface="Microsoft Sans Serif"/>
                <a:cs typeface="Microsoft Sans Serif"/>
              </a:rPr>
              <a:t>6</a:t>
            </a:r>
            <a:r>
              <a:rPr dirty="0" baseline="13687" sz="5175" spc="-2265" b="1">
                <a:solidFill>
                  <a:srgbClr val="101014"/>
                </a:solidFill>
                <a:latin typeface="Times New Roman"/>
                <a:cs typeface="Times New Roman"/>
              </a:rPr>
              <a:t>o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)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70">
                <a:solidFill>
                  <a:srgbClr val="38383C"/>
                </a:solidFill>
                <a:latin typeface="Microsoft Sans Serif"/>
                <a:cs typeface="Microsoft Sans Serif"/>
              </a:rPr>
              <a:t>fi</a:t>
            </a:r>
            <a:r>
              <a:rPr dirty="0" baseline="13687" sz="5175" spc="-1927" b="1">
                <a:solidFill>
                  <a:srgbClr val="101014"/>
                </a:solidFill>
                <a:latin typeface="Times New Roman"/>
                <a:cs typeface="Times New Roman"/>
              </a:rPr>
              <a:t>r</a:t>
            </a:r>
            <a:r>
              <a:rPr dirty="0" sz="1700" spc="35">
                <a:solidFill>
                  <a:srgbClr val="38383C"/>
                </a:solidFill>
                <a:latin typeface="Microsoft Sans Serif"/>
                <a:cs typeface="Microsoft Sans Serif"/>
              </a:rPr>
              <a:t>n</a:t>
            </a:r>
            <a:r>
              <a:rPr dirty="0" sz="1700" spc="-615">
                <a:solidFill>
                  <a:srgbClr val="38383C"/>
                </a:solidFill>
                <a:latin typeface="Microsoft Sans Serif"/>
                <a:cs typeface="Microsoft Sans Serif"/>
              </a:rPr>
              <a:t>d</a:t>
            </a:r>
            <a:r>
              <a:rPr dirty="0" baseline="13687" sz="5175" spc="-1064" b="1">
                <a:solidFill>
                  <a:srgbClr val="101014"/>
                </a:solidFill>
                <a:latin typeface="Times New Roman"/>
                <a:cs typeface="Times New Roman"/>
              </a:rPr>
              <a:t>s</a:t>
            </a:r>
            <a:r>
              <a:rPr dirty="0" sz="1700" spc="114">
                <a:solidFill>
                  <a:srgbClr val="38383C"/>
                </a:solidFill>
                <a:latin typeface="Microsoft Sans Serif"/>
                <a:cs typeface="Microsoft Sans Serif"/>
              </a:rPr>
              <a:t>s</a:t>
            </a:r>
            <a:r>
              <a:rPr dirty="0" baseline="13687" sz="5175" spc="-1770" b="1">
                <a:solidFill>
                  <a:srgbClr val="101014"/>
                </a:solidFill>
                <a:latin typeface="Times New Roman"/>
                <a:cs typeface="Times New Roman"/>
              </a:rPr>
              <a:t>e</a:t>
            </a:r>
            <a:r>
              <a:rPr dirty="0" sz="1700" spc="30">
                <a:solidFill>
                  <a:srgbClr val="38383C"/>
                </a:solidFill>
                <a:latin typeface="Microsoft Sans Serif"/>
                <a:cs typeface="Microsoft Sans Serif"/>
              </a:rPr>
              <a:t>s</a:t>
            </a:r>
            <a:r>
              <a:rPr dirty="0" sz="1700" spc="35">
                <a:solidFill>
                  <a:srgbClr val="38383C"/>
                </a:solidFill>
                <a:latin typeface="Microsoft Sans Serif"/>
                <a:cs typeface="Microsoft Sans Serif"/>
              </a:rPr>
              <a:t>hortes</a:t>
            </a:r>
            <a:r>
              <a:rPr dirty="0" sz="1700" spc="40">
                <a:solidFill>
                  <a:srgbClr val="38383C"/>
                </a:solidFill>
                <a:latin typeface="Microsoft Sans Serif"/>
                <a:cs typeface="Microsoft Sans Serif"/>
              </a:rPr>
              <a:t>t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paths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from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one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source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every</a:t>
            </a:r>
            <a:r>
              <a:rPr dirty="0" sz="170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reachable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38383C"/>
                </a:solidFill>
                <a:latin typeface="Microsoft Sans Serif"/>
                <a:cs typeface="Microsoft Sans Serif"/>
              </a:rPr>
              <a:t>node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non-negative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weights.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38383C"/>
                </a:solidFill>
                <a:latin typeface="Microsoft Sans Serif"/>
                <a:cs typeface="Microsoft Sans Serif"/>
              </a:rPr>
              <a:t>It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expands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nearest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unvisited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38383C"/>
                </a:solidFill>
                <a:latin typeface="Microsoft Sans Serif"/>
                <a:cs typeface="Microsoft Sans Serif"/>
              </a:rPr>
              <a:t>node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greedily,</a:t>
            </a:r>
            <a:r>
              <a:rPr dirty="0" sz="1700" spc="1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38383C"/>
                </a:solidFill>
                <a:latin typeface="Microsoft Sans Serif"/>
                <a:cs typeface="Microsoft Sans Serif"/>
              </a:rPr>
              <a:t>updating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38383C"/>
                </a:solidFill>
                <a:latin typeface="Microsoft Sans Serif"/>
                <a:cs typeface="Microsoft Sans Serif"/>
              </a:rPr>
              <a:t>tentative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distances</a:t>
            </a:r>
            <a:r>
              <a:rPr dirty="0" sz="1700" spc="1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38383C"/>
                </a:solidFill>
                <a:latin typeface="Microsoft Sans Serif"/>
                <a:cs typeface="Microsoft Sans Serif"/>
              </a:rPr>
              <a:t>until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all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shortest</a:t>
            </a:r>
            <a:r>
              <a:rPr dirty="0" sz="1700" spc="1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paths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are</a:t>
            </a:r>
            <a:r>
              <a:rPr dirty="0" sz="1700" spc="1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settled.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668" y="2748558"/>
            <a:ext cx="8322945" cy="464534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622314" y="3899725"/>
            <a:ext cx="3737610" cy="2488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b="1">
                <a:solidFill>
                  <a:srgbClr val="101014"/>
                </a:solidFill>
                <a:latin typeface="Times New Roman"/>
                <a:cs typeface="Times New Roman"/>
              </a:rPr>
              <a:t>Why</a:t>
            </a:r>
            <a:r>
              <a:rPr dirty="0" sz="2150" spc="-85" b="1">
                <a:solidFill>
                  <a:srgbClr val="101014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101014"/>
                </a:solidFill>
                <a:latin typeface="Times New Roman"/>
                <a:cs typeface="Times New Roman"/>
              </a:rPr>
              <a:t>it’s</a:t>
            </a:r>
            <a:r>
              <a:rPr dirty="0" sz="2150" spc="-25" b="1">
                <a:solidFill>
                  <a:srgbClr val="101014"/>
                </a:solidFill>
                <a:latin typeface="Times New Roman"/>
                <a:cs typeface="Times New Roman"/>
              </a:rPr>
              <a:t> </a:t>
            </a:r>
            <a:r>
              <a:rPr dirty="0" sz="2150" spc="90" b="1">
                <a:solidFill>
                  <a:srgbClr val="101014"/>
                </a:solidFill>
                <a:latin typeface="Times New Roman"/>
                <a:cs typeface="Times New Roman"/>
              </a:rPr>
              <a:t>useful</a:t>
            </a:r>
            <a:endParaRPr sz="2150">
              <a:latin typeface="Times New Roman"/>
              <a:cs typeface="Times New Roman"/>
            </a:endParaRPr>
          </a:p>
          <a:p>
            <a:pPr marL="354965" indent="-315595">
              <a:lnSpc>
                <a:spcPct val="100000"/>
              </a:lnSpc>
              <a:spcBef>
                <a:spcPts val="1815"/>
              </a:spcBef>
              <a:buChar char="•"/>
              <a:tabLst>
                <a:tab pos="354965" algn="l"/>
              </a:tabLst>
            </a:pP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Simple,</a:t>
            </a:r>
            <a:r>
              <a:rPr dirty="0" sz="1700" spc="-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38383C"/>
                </a:solidFill>
                <a:latin typeface="Microsoft Sans Serif"/>
                <a:cs typeface="Microsoft Sans Serif"/>
              </a:rPr>
              <a:t>robust,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5">
                <a:solidFill>
                  <a:srgbClr val="38383C"/>
                </a:solidFill>
                <a:latin typeface="Microsoft Sans Serif"/>
                <a:cs typeface="Microsoft Sans Serif"/>
              </a:rPr>
              <a:t>deterministic</a:t>
            </a:r>
            <a:endParaRPr sz="1700">
              <a:latin typeface="Microsoft Sans Serif"/>
              <a:cs typeface="Microsoft Sans Serif"/>
            </a:endParaRPr>
          </a:p>
          <a:p>
            <a:pPr marL="355600" marR="626110" indent="-316230">
              <a:lnSpc>
                <a:spcPct val="158800"/>
              </a:lnSpc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Works</a:t>
            </a:r>
            <a:r>
              <a:rPr dirty="0" sz="1700" spc="15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38383C"/>
                </a:solidFill>
                <a:latin typeface="Microsoft Sans Serif"/>
                <a:cs typeface="Microsoft Sans Serif"/>
              </a:rPr>
              <a:t>with</a:t>
            </a:r>
            <a:r>
              <a:rPr dirty="0" sz="170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weighted</a:t>
            </a:r>
            <a:r>
              <a:rPr dirty="0" sz="1700" spc="15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edges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(non-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negative)</a:t>
            </a:r>
            <a:endParaRPr sz="1700">
              <a:latin typeface="Microsoft Sans Serif"/>
              <a:cs typeface="Microsoft Sans Serif"/>
            </a:endParaRPr>
          </a:p>
          <a:p>
            <a:pPr marL="355600" marR="5080" indent="-316230">
              <a:lnSpc>
                <a:spcPct val="158800"/>
              </a:lnSpc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Building</a:t>
            </a:r>
            <a:r>
              <a:rPr dirty="0" sz="17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38383C"/>
                </a:solidFill>
                <a:latin typeface="Microsoft Sans Serif"/>
                <a:cs typeface="Microsoft Sans Serif"/>
              </a:rPr>
              <a:t>block</a:t>
            </a:r>
            <a:r>
              <a:rPr dirty="0" sz="17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38383C"/>
                </a:solidFill>
                <a:latin typeface="Microsoft Sans Serif"/>
                <a:cs typeface="Microsoft Sans Serif"/>
              </a:rPr>
              <a:t>more</a:t>
            </a:r>
            <a:r>
              <a:rPr dirty="0" sz="17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advanced </a:t>
            </a:r>
            <a:r>
              <a:rPr dirty="0" sz="1700" spc="70">
                <a:solidFill>
                  <a:srgbClr val="38383C"/>
                </a:solidFill>
                <a:latin typeface="Microsoft Sans Serif"/>
                <a:cs typeface="Microsoft Sans Serif"/>
              </a:rPr>
              <a:t>routing</a:t>
            </a:r>
            <a:r>
              <a:rPr dirty="0" sz="1700" spc="-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38383C"/>
                </a:solidFill>
                <a:latin typeface="Microsoft Sans Serif"/>
                <a:cs typeface="Microsoft Sans Serif"/>
              </a:rPr>
              <a:t>techniques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399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661" y="591843"/>
            <a:ext cx="6678295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Visualizing</a:t>
            </a:r>
            <a:r>
              <a:rPr dirty="0" spc="165"/>
              <a:t> </a:t>
            </a:r>
            <a:r>
              <a:rPr dirty="0"/>
              <a:t>Dijkstra’s</a:t>
            </a:r>
            <a:r>
              <a:rPr dirty="0" spc="155"/>
              <a:t> </a:t>
            </a:r>
            <a:r>
              <a:rPr dirty="0" spc="85"/>
              <a:t>Algorithm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9661" y="1505863"/>
            <a:ext cx="7089140" cy="1572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Watch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shortest-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path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tree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grow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38383C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source.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Distances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38383C"/>
                </a:solidFill>
                <a:latin typeface="Microsoft Sans Serif"/>
                <a:cs typeface="Microsoft Sans Serif"/>
              </a:rPr>
              <a:t>are</a:t>
            </a:r>
            <a:endParaRPr sz="1750">
              <a:latin typeface="Microsoft Sans Serif"/>
              <a:cs typeface="Microsoft Sans Serif"/>
            </a:endParaRPr>
          </a:p>
          <a:p>
            <a:pPr marL="12700" marR="5080">
              <a:lnSpc>
                <a:spcPct val="160000"/>
              </a:lnSpc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relaxed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as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nearer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nodes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are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finalized;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edges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switch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38383C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tentative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to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final.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This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stepwise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update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explains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why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Dijkstra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is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predictable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5">
                <a:solidFill>
                  <a:srgbClr val="38383C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traceable.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361" y="3229451"/>
            <a:ext cx="7559277" cy="340161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127192" y="3260231"/>
            <a:ext cx="930275" cy="7239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819"/>
              </a:spcBef>
            </a:pPr>
            <a:r>
              <a:rPr dirty="0" sz="1250" spc="40" b="1">
                <a:solidFill>
                  <a:srgbClr val="38383C"/>
                </a:solidFill>
                <a:latin typeface="Times New Roman"/>
                <a:cs typeface="Times New Roman"/>
              </a:rPr>
              <a:t>Source</a:t>
            </a:r>
            <a:endParaRPr sz="1250">
              <a:latin typeface="Times New Roman"/>
              <a:cs typeface="Times New Roman"/>
            </a:endParaRPr>
          </a:p>
          <a:p>
            <a:pPr algn="ctr" marL="12065" marR="5080">
              <a:lnSpc>
                <a:spcPct val="125000"/>
              </a:lnSpc>
              <a:spcBef>
                <a:spcPts val="280"/>
              </a:spcBef>
            </a:pP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Start</a:t>
            </a:r>
            <a:r>
              <a:rPr dirty="0" sz="100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node</a:t>
            </a:r>
            <a:r>
              <a:rPr dirty="0" sz="100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38383C"/>
                </a:solidFill>
                <a:latin typeface="Microsoft Sans Serif"/>
                <a:cs typeface="Microsoft Sans Serif"/>
              </a:rPr>
              <a:t>with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distance</a:t>
            </a:r>
            <a:r>
              <a:rPr dirty="0" sz="100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38383C"/>
                </a:solidFill>
                <a:latin typeface="Microsoft Sans Serif"/>
                <a:cs typeface="Microsoft Sans Serif"/>
              </a:rPr>
              <a:t>0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449624" y="4268378"/>
            <a:ext cx="4203700" cy="1390650"/>
            <a:chOff x="2449624" y="4268378"/>
            <a:chExt cx="4203700" cy="139065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9624" y="4297452"/>
              <a:ext cx="293007" cy="29300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38" y="5365910"/>
              <a:ext cx="293007" cy="29300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3520" y="4268378"/>
              <a:ext cx="293007" cy="29300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0029" y="5365910"/>
              <a:ext cx="293007" cy="293006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289193" y="5811442"/>
            <a:ext cx="1229995" cy="7239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700" marR="5080" indent="1270">
              <a:lnSpc>
                <a:spcPct val="131700"/>
              </a:lnSpc>
              <a:spcBef>
                <a:spcPts val="345"/>
              </a:spcBef>
            </a:pPr>
            <a:r>
              <a:rPr dirty="0" sz="1250" spc="20" b="1">
                <a:solidFill>
                  <a:srgbClr val="38383C"/>
                </a:solidFill>
                <a:latin typeface="Times New Roman"/>
                <a:cs typeface="Times New Roman"/>
              </a:rPr>
              <a:t>Expansion</a:t>
            </a:r>
            <a:r>
              <a:rPr dirty="0" sz="1250" spc="19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38383C"/>
                </a:solidFill>
                <a:latin typeface="Times New Roman"/>
                <a:cs typeface="Times New Roman"/>
              </a:rPr>
              <a:t>1</a:t>
            </a:r>
            <a:r>
              <a:rPr dirty="0" sz="1250" spc="-1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38383C"/>
                </a:solidFill>
                <a:latin typeface="Microsoft Sans Serif"/>
                <a:cs typeface="Microsoft Sans Serif"/>
              </a:rPr>
              <a:t>Relax</a:t>
            </a:r>
            <a:r>
              <a:rPr dirty="0" sz="100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neighbors</a:t>
            </a:r>
            <a:r>
              <a:rPr dirty="0" sz="100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38383C"/>
                </a:solidFill>
                <a:latin typeface="Microsoft Sans Serif"/>
                <a:cs typeface="Microsoft Sans Serif"/>
              </a:rPr>
              <a:t>and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mark</a:t>
            </a:r>
            <a:r>
              <a:rPr dirty="0" sz="1000" spc="1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38383C"/>
                </a:solidFill>
                <a:latin typeface="Microsoft Sans Serif"/>
                <a:cs typeface="Microsoft Sans Serif"/>
              </a:rPr>
              <a:t>tentative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70192" y="3234793"/>
            <a:ext cx="1247775" cy="7239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065" marR="5080" indent="1270">
              <a:lnSpc>
                <a:spcPct val="131700"/>
              </a:lnSpc>
              <a:spcBef>
                <a:spcPts val="345"/>
              </a:spcBef>
            </a:pPr>
            <a:r>
              <a:rPr dirty="0" sz="1250" spc="20" b="1">
                <a:solidFill>
                  <a:srgbClr val="38383C"/>
                </a:solidFill>
                <a:latin typeface="Times New Roman"/>
                <a:cs typeface="Times New Roman"/>
              </a:rPr>
              <a:t>Expansion</a:t>
            </a:r>
            <a:r>
              <a:rPr dirty="0" sz="1250" spc="18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38383C"/>
                </a:solidFill>
                <a:latin typeface="Times New Roman"/>
                <a:cs typeface="Times New Roman"/>
              </a:rPr>
              <a:t>2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Finalize</a:t>
            </a:r>
            <a:r>
              <a:rPr dirty="0" sz="100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closer</a:t>
            </a:r>
            <a:r>
              <a:rPr dirty="0" sz="100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38383C"/>
                </a:solidFill>
                <a:latin typeface="Microsoft Sans Serif"/>
                <a:cs typeface="Microsoft Sans Serif"/>
              </a:rPr>
              <a:t>nodes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0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38383C"/>
                </a:solidFill>
                <a:latin typeface="Microsoft Sans Serif"/>
                <a:cs typeface="Microsoft Sans Serif"/>
              </a:rPr>
              <a:t>update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88950" y="5811442"/>
            <a:ext cx="1226820" cy="7239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065" marR="5080" indent="1905">
              <a:lnSpc>
                <a:spcPct val="131700"/>
              </a:lnSpc>
              <a:spcBef>
                <a:spcPts val="345"/>
              </a:spcBef>
            </a:pPr>
            <a:r>
              <a:rPr dirty="0" sz="1250" b="1">
                <a:solidFill>
                  <a:srgbClr val="38383C"/>
                </a:solidFill>
                <a:latin typeface="Times New Roman"/>
                <a:cs typeface="Times New Roman"/>
              </a:rPr>
              <a:t>Final</a:t>
            </a:r>
            <a:r>
              <a:rPr dirty="0" sz="1250" spc="11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250" spc="-20" b="1">
                <a:solidFill>
                  <a:srgbClr val="38383C"/>
                </a:solidFill>
                <a:latin typeface="Times New Roman"/>
                <a:cs typeface="Times New Roman"/>
              </a:rPr>
              <a:t>Path</a:t>
            </a:r>
            <a:r>
              <a:rPr dirty="0" sz="1250" spc="50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38383C"/>
                </a:solidFill>
                <a:latin typeface="Microsoft Sans Serif"/>
                <a:cs typeface="Microsoft Sans Serif"/>
              </a:rPr>
              <a:t>Shortest</a:t>
            </a:r>
            <a:r>
              <a:rPr dirty="0" sz="1000" spc="1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38383C"/>
                </a:solidFill>
                <a:latin typeface="Microsoft Sans Serif"/>
                <a:cs typeface="Microsoft Sans Serif"/>
              </a:rPr>
              <a:t>path </a:t>
            </a:r>
            <a:r>
              <a:rPr dirty="0" sz="1000" spc="10">
                <a:solidFill>
                  <a:srgbClr val="38383C"/>
                </a:solidFill>
                <a:latin typeface="Microsoft Sans Serif"/>
                <a:cs typeface="Microsoft Sans Serif"/>
              </a:rPr>
              <a:t>highlighted</a:t>
            </a:r>
            <a:r>
              <a:rPr dirty="0" sz="10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0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0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38383C"/>
                </a:solidFill>
                <a:latin typeface="Microsoft Sans Serif"/>
                <a:cs typeface="Microsoft Sans Serif"/>
              </a:rPr>
              <a:t>target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79661" y="6863675"/>
            <a:ext cx="678307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Diagram: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expansion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sequence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final</a:t>
            </a:r>
            <a:r>
              <a:rPr dirty="0" sz="1750" spc="2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shortest-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path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highlight</a:t>
            </a:r>
            <a:r>
              <a:rPr dirty="0" sz="1750" spc="2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illustrate</a:t>
            </a:r>
            <a:r>
              <a:rPr dirty="0" sz="1750" spc="3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dynamic</a:t>
            </a:r>
            <a:r>
              <a:rPr dirty="0" sz="1750" spc="3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updates.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8352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25"/>
              <a:t>Scaling</a:t>
            </a:r>
            <a:r>
              <a:rPr dirty="0" spc="-90"/>
              <a:t> </a:t>
            </a:r>
            <a:r>
              <a:rPr dirty="0" spc="-40"/>
              <a:t>Up:</a:t>
            </a:r>
            <a:r>
              <a:rPr dirty="0" spc="-85"/>
              <a:t> </a:t>
            </a:r>
            <a:r>
              <a:rPr dirty="0" spc="114"/>
              <a:t>Contraction</a:t>
            </a:r>
            <a:r>
              <a:rPr dirty="0" spc="-90"/>
              <a:t> </a:t>
            </a:r>
            <a:r>
              <a:rPr dirty="0" spc="114"/>
              <a:t>Hierarchies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90" y="4684355"/>
            <a:ext cx="1285557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Real-world</a:t>
            </a:r>
            <a:r>
              <a:rPr dirty="0" sz="175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routing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demands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sub-second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queries</a:t>
            </a:r>
            <a:r>
              <a:rPr dirty="0" sz="175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continental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maps.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Contraction</a:t>
            </a:r>
            <a:r>
              <a:rPr dirty="0" sz="175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Hierarchies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75">
                <a:solidFill>
                  <a:srgbClr val="38383C"/>
                </a:solidFill>
                <a:latin typeface="Microsoft Sans Serif"/>
                <a:cs typeface="Microsoft Sans Serif"/>
              </a:rPr>
              <a:t>(CH)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preprocess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1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graph</a:t>
            </a:r>
            <a:r>
              <a:rPr dirty="0" sz="1750" spc="1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38383C"/>
                </a:solidFill>
                <a:latin typeface="Microsoft Sans Serif"/>
                <a:cs typeface="Microsoft Sans Serif"/>
              </a:rPr>
              <a:t>by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contracting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low-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importance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nodes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adding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shortcut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edges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so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queries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traverse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compact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hierarchy.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90" y="5686901"/>
            <a:ext cx="566975" cy="56697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31552" y="5663025"/>
            <a:ext cx="296926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38383C"/>
                </a:solidFill>
                <a:latin typeface="Times New Roman"/>
                <a:cs typeface="Times New Roman"/>
              </a:rPr>
              <a:t>Fast</a:t>
            </a:r>
            <a:r>
              <a:rPr dirty="0" sz="2200" spc="9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85" b="1">
                <a:solidFill>
                  <a:srgbClr val="38383C"/>
                </a:solidFill>
                <a:latin typeface="Times New Roman"/>
                <a:cs typeface="Times New Roman"/>
              </a:rPr>
              <a:t>queries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Average</a:t>
            </a:r>
            <a:r>
              <a:rPr dirty="0" sz="1750" spc="-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query</a:t>
            </a:r>
            <a:r>
              <a:rPr dirty="0" sz="1750" spc="-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time</a:t>
            </a:r>
            <a:r>
              <a:rPr dirty="0" sz="1750" spc="-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drops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to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milliseconds</a:t>
            </a:r>
            <a:r>
              <a:rPr dirty="0" sz="1750" spc="4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after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preprocessing.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5893" y="5686901"/>
            <a:ext cx="566976" cy="56697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073656" y="5663025"/>
            <a:ext cx="3287395" cy="121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95" b="1">
                <a:solidFill>
                  <a:srgbClr val="38383C"/>
                </a:solidFill>
                <a:latin typeface="Times New Roman"/>
                <a:cs typeface="Times New Roman"/>
              </a:rPr>
              <a:t>Preprocessing</a:t>
            </a:r>
            <a:r>
              <a:rPr dirty="0" sz="2200" spc="2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85" b="1">
                <a:solidFill>
                  <a:srgbClr val="38383C"/>
                </a:solidFill>
                <a:latin typeface="Times New Roman"/>
                <a:cs typeface="Times New Roman"/>
              </a:rPr>
              <a:t>cost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Significant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oﬄine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35">
                <a:solidFill>
                  <a:srgbClr val="38383C"/>
                </a:solidFill>
                <a:latin typeface="Microsoft Sans Serif"/>
                <a:cs typeface="Microsoft Sans Serif"/>
              </a:rPr>
              <a:t>work—</a:t>
            </a:r>
            <a:r>
              <a:rPr dirty="0" sz="1750" spc="105">
                <a:solidFill>
                  <a:srgbClr val="38383C"/>
                </a:solidFill>
                <a:latin typeface="Microsoft Sans Serif"/>
                <a:cs typeface="Microsoft Sans Serif"/>
              </a:rPr>
              <a:t>traded 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ultra-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fast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online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queries.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7995" y="5686901"/>
            <a:ext cx="566975" cy="5669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0515758" y="5663025"/>
            <a:ext cx="265811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85" b="1">
                <a:solidFill>
                  <a:srgbClr val="38383C"/>
                </a:solidFill>
                <a:latin typeface="Times New Roman"/>
                <a:cs typeface="Times New Roman"/>
              </a:rPr>
              <a:t>Production</a:t>
            </a:r>
            <a:r>
              <a:rPr dirty="0" sz="2200" spc="-1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105" b="1">
                <a:solidFill>
                  <a:srgbClr val="38383C"/>
                </a:solidFill>
                <a:latin typeface="Times New Roman"/>
                <a:cs typeface="Times New Roman"/>
              </a:rPr>
              <a:t>use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Used</a:t>
            </a:r>
            <a:r>
              <a:rPr dirty="0" sz="1750" spc="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by</a:t>
            </a:r>
            <a:r>
              <a:rPr dirty="0" sz="1750" spc="2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major</a:t>
            </a:r>
            <a:r>
              <a:rPr dirty="0" sz="1750" spc="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navigation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providers</a:t>
            </a:r>
            <a:r>
              <a:rPr dirty="0" sz="1750" spc="-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-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continental </a:t>
            </a:r>
            <a:r>
              <a:rPr dirty="0" sz="1750" spc="40">
                <a:solidFill>
                  <a:srgbClr val="38383C"/>
                </a:solidFill>
                <a:latin typeface="Microsoft Sans Serif"/>
                <a:cs typeface="Microsoft Sans Serif"/>
              </a:rPr>
              <a:t>routing.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050" y="503793"/>
            <a:ext cx="83229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00"/>
              <a:t>Beyond</a:t>
            </a:r>
            <a:r>
              <a:rPr dirty="0" sz="3000"/>
              <a:t> Cars:</a:t>
            </a:r>
            <a:r>
              <a:rPr dirty="0" sz="3000" spc="5"/>
              <a:t> </a:t>
            </a:r>
            <a:r>
              <a:rPr dirty="0" sz="3000" spc="105"/>
              <a:t>Pedestrian</a:t>
            </a:r>
            <a:r>
              <a:rPr dirty="0" sz="3000"/>
              <a:t> </a:t>
            </a:r>
            <a:r>
              <a:rPr dirty="0" sz="3000" spc="75"/>
              <a:t>Navigation</a:t>
            </a:r>
            <a:r>
              <a:rPr dirty="0" sz="3000" spc="5"/>
              <a:t> </a:t>
            </a:r>
            <a:r>
              <a:rPr dirty="0" sz="3000" spc="95"/>
              <a:t>Challenges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664050" y="1210191"/>
            <a:ext cx="1298511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Pedestrian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38383C"/>
                </a:solidFill>
                <a:latin typeface="Microsoft Sans Serif"/>
                <a:cs typeface="Microsoft Sans Serif"/>
              </a:rPr>
              <a:t>routing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is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richer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38383C"/>
                </a:solidFill>
                <a:latin typeface="Microsoft Sans Serif"/>
                <a:cs typeface="Microsoft Sans Serif"/>
              </a:rPr>
              <a:t>than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shortest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distance: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accessibility,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safety,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sidewalk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quality,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elevation,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comfort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38383C"/>
                </a:solidFill>
                <a:latin typeface="Microsoft Sans Serif"/>
                <a:cs typeface="Microsoft Sans Serif"/>
              </a:rPr>
              <a:t>matter.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Pure</a:t>
            </a:r>
            <a:r>
              <a:rPr dirty="0" sz="1500" spc="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shortest-paths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can</a:t>
            </a:r>
            <a:r>
              <a:rPr dirty="0" sz="1500" spc="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38383C"/>
                </a:solidFill>
                <a:latin typeface="Microsoft Sans Serif"/>
                <a:cs typeface="Microsoft Sans Serif"/>
              </a:rPr>
              <a:t>be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unsuitable</a:t>
            </a:r>
            <a:r>
              <a:rPr dirty="0" sz="15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">
                <a:solidFill>
                  <a:srgbClr val="38383C"/>
                </a:solidFill>
                <a:latin typeface="Microsoft Sans Serif"/>
                <a:cs typeface="Microsoft Sans Serif"/>
              </a:rPr>
              <a:t>people</a:t>
            </a:r>
            <a:r>
              <a:rPr dirty="0" sz="15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5">
                <a:solidFill>
                  <a:srgbClr val="38383C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5">
                <a:solidFill>
                  <a:srgbClr val="38383C"/>
                </a:solidFill>
                <a:latin typeface="Microsoft Sans Serif"/>
                <a:cs typeface="Microsoft Sans Serif"/>
              </a:rPr>
              <a:t>mobility</a:t>
            </a:r>
            <a:r>
              <a:rPr dirty="0" sz="1500" spc="10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8383C"/>
                </a:solidFill>
                <a:latin typeface="Microsoft Sans Serif"/>
                <a:cs typeface="Microsoft Sans Serif"/>
              </a:rPr>
              <a:t>needs.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751" y="2103120"/>
            <a:ext cx="3790473" cy="473809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4050" y="6881255"/>
            <a:ext cx="4315460" cy="80073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900" spc="60" b="1">
                <a:solidFill>
                  <a:srgbClr val="38383C"/>
                </a:solidFill>
                <a:latin typeface="Times New Roman"/>
                <a:cs typeface="Times New Roman"/>
              </a:rPr>
              <a:t>Accessibility-</a:t>
            </a:r>
            <a:r>
              <a:rPr dirty="0" sz="1900" spc="80" b="1">
                <a:solidFill>
                  <a:srgbClr val="38383C"/>
                </a:solidFill>
                <a:latin typeface="Times New Roman"/>
                <a:cs typeface="Times New Roman"/>
              </a:rPr>
              <a:t>aware</a:t>
            </a:r>
            <a:r>
              <a:rPr dirty="0" sz="1900" spc="1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900" spc="55" b="1">
                <a:solidFill>
                  <a:srgbClr val="38383C"/>
                </a:solidFill>
                <a:latin typeface="Times New Roman"/>
                <a:cs typeface="Times New Roman"/>
              </a:rPr>
              <a:t>routing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Penalty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weights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stairs,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38383C"/>
                </a:solidFill>
                <a:latin typeface="Microsoft Sans Serif"/>
                <a:cs typeface="Microsoft Sans Serif"/>
              </a:rPr>
              <a:t>prefer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0">
                <a:solidFill>
                  <a:srgbClr val="38383C"/>
                </a:solidFill>
                <a:latin typeface="Microsoft Sans Serif"/>
                <a:cs typeface="Microsoft Sans Serif"/>
              </a:rPr>
              <a:t>ramps</a:t>
            </a:r>
            <a:r>
              <a:rPr dirty="0" sz="150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8383C"/>
                </a:solidFill>
                <a:latin typeface="Microsoft Sans Serif"/>
                <a:cs typeface="Microsoft Sans Serif"/>
              </a:rPr>
              <a:t>lifts.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8189" y="2103120"/>
            <a:ext cx="3790473" cy="473809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405489" y="6881255"/>
            <a:ext cx="5233035" cy="80073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900" spc="55" b="1">
                <a:solidFill>
                  <a:srgbClr val="38383C"/>
                </a:solidFill>
                <a:latin typeface="Times New Roman"/>
                <a:cs typeface="Times New Roman"/>
              </a:rPr>
              <a:t>Comfort</a:t>
            </a:r>
            <a:r>
              <a:rPr dirty="0" sz="1900" spc="-50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900" spc="110" b="1">
                <a:solidFill>
                  <a:srgbClr val="38383C"/>
                </a:solidFill>
                <a:latin typeface="Times New Roman"/>
                <a:cs typeface="Times New Roman"/>
              </a:rPr>
              <a:t>&amp;</a:t>
            </a:r>
            <a:r>
              <a:rPr dirty="0" sz="1900" spc="-3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1900" spc="40" b="1">
                <a:solidFill>
                  <a:srgbClr val="38383C"/>
                </a:solidFill>
                <a:latin typeface="Times New Roman"/>
                <a:cs typeface="Times New Roman"/>
              </a:rPr>
              <a:t>safety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Tradeoff</a:t>
            </a:r>
            <a:r>
              <a:rPr dirty="0" sz="150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distance</a:t>
            </a:r>
            <a:r>
              <a:rPr dirty="0" sz="150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well-lit,</a:t>
            </a:r>
            <a:r>
              <a:rPr dirty="0" sz="150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wide</a:t>
            </a:r>
            <a:r>
              <a:rPr dirty="0" sz="150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sidewalks</a:t>
            </a:r>
            <a:r>
              <a:rPr dirty="0" sz="150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8383C"/>
                </a:solidFill>
                <a:latin typeface="Microsoft Sans Serif"/>
                <a:cs typeface="Microsoft Sans Serif"/>
              </a:rPr>
              <a:t>crossings.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8352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Human</a:t>
            </a:r>
            <a:r>
              <a:rPr dirty="0" spc="-50"/>
              <a:t> </a:t>
            </a:r>
            <a:r>
              <a:rPr dirty="0" spc="80"/>
              <a:t>Navigation</a:t>
            </a:r>
            <a:r>
              <a:rPr dirty="0" spc="-140"/>
              <a:t> </a:t>
            </a:r>
            <a:r>
              <a:rPr dirty="0" spc="110"/>
              <a:t>vs</a:t>
            </a:r>
            <a:r>
              <a:rPr dirty="0" spc="-185"/>
              <a:t> </a:t>
            </a:r>
            <a:r>
              <a:rPr dirty="0" spc="110"/>
              <a:t>Algorithmic</a:t>
            </a:r>
            <a:r>
              <a:rPr dirty="0" spc="-75"/>
              <a:t> </a:t>
            </a:r>
            <a:r>
              <a:rPr dirty="0" spc="100"/>
              <a:t>Paths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90" y="4684355"/>
            <a:ext cx="12970510" cy="116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Humans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favor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routes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that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are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easy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remember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orient: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direct-feeling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lines,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visible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landmarks,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simple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>
                <a:solidFill>
                  <a:srgbClr val="38383C"/>
                </a:solidFill>
                <a:latin typeface="Microsoft Sans Serif"/>
                <a:cs typeface="Microsoft Sans Serif"/>
              </a:rPr>
              <a:t>turns.</a:t>
            </a:r>
            <a:endParaRPr sz="1750">
              <a:latin typeface="Microsoft Sans Serif"/>
              <a:cs typeface="Microsoft Sans Serif"/>
            </a:endParaRPr>
          </a:p>
          <a:p>
            <a:pPr marL="12700" marR="5080">
              <a:lnSpc>
                <a:spcPct val="162900"/>
              </a:lnSpc>
            </a:pP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that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incorporate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landmark-based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scoring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cognitive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preferences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produce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routes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">
                <a:solidFill>
                  <a:srgbClr val="38383C"/>
                </a:solidFill>
                <a:latin typeface="Microsoft Sans Serif"/>
                <a:cs typeface="Microsoft Sans Serif"/>
              </a:rPr>
              <a:t>people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prefer—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even</a:t>
            </a:r>
            <a:r>
              <a:rPr dirty="0" sz="1750" spc="12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if</a:t>
            </a:r>
            <a:r>
              <a:rPr dirty="0" sz="17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slightly longer.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90" y="6170295"/>
            <a:ext cx="113347" cy="11334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21251" y="6025927"/>
            <a:ext cx="6035675" cy="78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60" b="1">
                <a:solidFill>
                  <a:srgbClr val="38383C"/>
                </a:solidFill>
                <a:latin typeface="Times New Roman"/>
                <a:cs typeface="Times New Roman"/>
              </a:rPr>
              <a:t>Orientation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Routes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clear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landmarks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reduce</a:t>
            </a:r>
            <a:r>
              <a:rPr dirty="0" sz="1750" spc="1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perceived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complexity.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6884" y="6170295"/>
            <a:ext cx="113347" cy="11334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784346" y="6025927"/>
            <a:ext cx="5113655" cy="121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75" b="1">
                <a:solidFill>
                  <a:srgbClr val="38383C"/>
                </a:solidFill>
                <a:latin typeface="Times New Roman"/>
                <a:cs typeface="Times New Roman"/>
              </a:rPr>
              <a:t>Preference</a:t>
            </a:r>
            <a:r>
              <a:rPr dirty="0" sz="2200" spc="-2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95" b="1">
                <a:solidFill>
                  <a:srgbClr val="38383C"/>
                </a:solidFill>
                <a:latin typeface="Times New Roman"/>
                <a:cs typeface="Times New Roman"/>
              </a:rPr>
              <a:t>modeling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Personalization</a:t>
            </a:r>
            <a:r>
              <a:rPr dirty="0" sz="175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(scenic,</a:t>
            </a:r>
            <a:r>
              <a:rPr dirty="0" sz="17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fastest,</a:t>
            </a:r>
            <a:r>
              <a:rPr dirty="0" sz="1750" spc="10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easiest)</a:t>
            </a:r>
            <a:r>
              <a:rPr dirty="0" sz="17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increases 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adoption.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89749" y="2158801"/>
            <a:ext cx="7807959" cy="68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0" b="1">
                <a:solidFill>
                  <a:srgbClr val="101014"/>
                </a:solidFill>
                <a:latin typeface="Times New Roman"/>
                <a:cs typeface="Times New Roman"/>
              </a:rPr>
              <a:t>Real-</a:t>
            </a:r>
            <a:r>
              <a:rPr dirty="0" sz="1750" b="1">
                <a:solidFill>
                  <a:srgbClr val="101014"/>
                </a:solidFill>
                <a:latin typeface="Times New Roman"/>
                <a:cs typeface="Times New Roman"/>
              </a:rPr>
              <a:t>World</a:t>
            </a:r>
            <a:r>
              <a:rPr dirty="0" sz="1750" spc="-15" b="1">
                <a:solidFill>
                  <a:srgbClr val="101014"/>
                </a:solidFill>
                <a:latin typeface="Times New Roman"/>
                <a:cs typeface="Times New Roman"/>
              </a:rPr>
              <a:t> </a:t>
            </a:r>
            <a:r>
              <a:rPr dirty="0" sz="1750" spc="50" b="1">
                <a:solidFill>
                  <a:srgbClr val="101014"/>
                </a:solidFill>
                <a:latin typeface="Times New Roman"/>
                <a:cs typeface="Times New Roman"/>
              </a:rPr>
              <a:t>Impact</a:t>
            </a:r>
            <a:r>
              <a:rPr dirty="0" sz="1750" spc="-30" b="1">
                <a:solidFill>
                  <a:srgbClr val="101014"/>
                </a:solidFill>
                <a:latin typeface="Times New Roman"/>
                <a:cs typeface="Times New Roman"/>
              </a:rPr>
              <a:t> </a:t>
            </a:r>
            <a:r>
              <a:rPr dirty="0" sz="1750" spc="100" b="1">
                <a:solidFill>
                  <a:srgbClr val="101014"/>
                </a:solidFill>
                <a:latin typeface="Times New Roman"/>
                <a:cs typeface="Times New Roman"/>
              </a:rPr>
              <a:t>&amp;</a:t>
            </a:r>
            <a:r>
              <a:rPr dirty="0" sz="1750" spc="-10" b="1">
                <a:solidFill>
                  <a:srgbClr val="101014"/>
                </a:solidFill>
                <a:latin typeface="Times New Roman"/>
                <a:cs typeface="Times New Roman"/>
              </a:rPr>
              <a:t> </a:t>
            </a:r>
            <a:r>
              <a:rPr dirty="0" sz="1750" spc="50" b="1">
                <a:solidFill>
                  <a:srgbClr val="101014"/>
                </a:solidFill>
                <a:latin typeface="Times New Roman"/>
                <a:cs typeface="Times New Roman"/>
              </a:rPr>
              <a:t>Innovations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23500"/>
              </a:lnSpc>
              <a:spcBef>
                <a:spcPts val="595"/>
              </a:spcBef>
            </a:pP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Modern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systems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combine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5">
                <a:solidFill>
                  <a:srgbClr val="38383C"/>
                </a:solidFill>
                <a:latin typeface="Microsoft Sans Serif"/>
                <a:cs typeface="Microsoft Sans Serif"/>
              </a:rPr>
              <a:t>CH,</a:t>
            </a:r>
            <a:r>
              <a:rPr dirty="0" sz="8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real-time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traffic,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dynamic</a:t>
            </a:r>
            <a:r>
              <a:rPr dirty="0" sz="8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re-routing.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Emerging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layers</a:t>
            </a:r>
            <a:r>
              <a:rPr dirty="0" sz="8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include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AI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personalized</a:t>
            </a:r>
            <a:r>
              <a:rPr dirty="0" sz="8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routing,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multimodal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trip</a:t>
            </a:r>
            <a:r>
              <a:rPr dirty="0" sz="850" spc="114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assembly</a:t>
            </a:r>
            <a:r>
              <a:rPr dirty="0" sz="850" spc="11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38383C"/>
                </a:solidFill>
                <a:latin typeface="Microsoft Sans Serif"/>
                <a:cs typeface="Microsoft Sans Serif"/>
              </a:rPr>
              <a:t>(bike,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transit,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walk),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pedestrian-specific</a:t>
            </a:r>
            <a:r>
              <a:rPr dirty="0" sz="850" spc="5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cities</a:t>
            </a:r>
            <a:r>
              <a:rPr dirty="0" sz="850" spc="5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like</a:t>
            </a:r>
            <a:r>
              <a:rPr dirty="0" sz="850" spc="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38383C"/>
                </a:solidFill>
                <a:latin typeface="Microsoft Sans Serif"/>
                <a:cs typeface="Microsoft Sans Serif"/>
              </a:rPr>
              <a:t>Thessaloniki.</a:t>
            </a:r>
            <a:endParaRPr sz="850">
              <a:latin typeface="Microsoft Sans Serif"/>
              <a:cs typeface="Microsoft Sans Serif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2448" y="3056416"/>
            <a:ext cx="11227951" cy="517318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389749" y="7313660"/>
            <a:ext cx="49631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Bar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chart: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relative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impact</a:t>
            </a:r>
            <a:r>
              <a:rPr dirty="0" sz="850" spc="3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of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technologies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improving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routing</a:t>
            </a:r>
            <a:r>
              <a:rPr dirty="0" sz="850" spc="3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speed,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38383C"/>
                </a:solidFill>
                <a:latin typeface="Microsoft Sans Serif"/>
                <a:cs typeface="Microsoft Sans Serif"/>
              </a:rPr>
              <a:t>accuracy,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850" spc="3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10">
                <a:solidFill>
                  <a:srgbClr val="38383C"/>
                </a:solidFill>
                <a:latin typeface="Microsoft Sans Serif"/>
                <a:cs typeface="Microsoft Sans Serif"/>
              </a:rPr>
              <a:t>user</a:t>
            </a:r>
            <a:r>
              <a:rPr dirty="0" sz="850" spc="3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38383C"/>
                </a:solidFill>
                <a:latin typeface="Microsoft Sans Serif"/>
                <a:cs typeface="Microsoft Sans Serif"/>
              </a:rPr>
              <a:t>satisfaction.</a:t>
            </a:r>
            <a:endParaRPr sz="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9" y="918385"/>
            <a:ext cx="424751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150"/>
              <a:t>The</a:t>
            </a:r>
            <a:r>
              <a:rPr dirty="0" sz="4450" spc="-75"/>
              <a:t> </a:t>
            </a:r>
            <a:r>
              <a:rPr dirty="0" sz="4450" spc="100"/>
              <a:t>Road</a:t>
            </a:r>
            <a:r>
              <a:rPr dirty="0" sz="4450" spc="-235"/>
              <a:t> </a:t>
            </a:r>
            <a:r>
              <a:rPr dirty="0" sz="4450" spc="75"/>
              <a:t>Ahead</a:t>
            </a:r>
            <a:endParaRPr sz="4450"/>
          </a:p>
        </p:txBody>
      </p:sp>
      <p:sp>
        <p:nvSpPr>
          <p:cNvPr id="4" name="object 4" descr=""/>
          <p:cNvSpPr/>
          <p:nvPr/>
        </p:nvSpPr>
        <p:spPr>
          <a:xfrm>
            <a:off x="6280189" y="2002631"/>
            <a:ext cx="3665220" cy="2033270"/>
          </a:xfrm>
          <a:custGeom>
            <a:avLst/>
            <a:gdLst/>
            <a:ahLst/>
            <a:cxnLst/>
            <a:rect l="l" t="t" r="r" b="b"/>
            <a:pathLst>
              <a:path w="3665220" h="2033270">
                <a:moveTo>
                  <a:pt x="3630715" y="2032753"/>
                </a:moveTo>
                <a:lnTo>
                  <a:pt x="34028" y="2032753"/>
                </a:lnTo>
                <a:lnTo>
                  <a:pt x="20782" y="2030079"/>
                </a:lnTo>
                <a:lnTo>
                  <a:pt x="9966" y="2022787"/>
                </a:lnTo>
                <a:lnTo>
                  <a:pt x="2674" y="2011971"/>
                </a:lnTo>
                <a:lnTo>
                  <a:pt x="0" y="1998725"/>
                </a:lnTo>
                <a:lnTo>
                  <a:pt x="0" y="34028"/>
                </a:lnTo>
                <a:lnTo>
                  <a:pt x="2674" y="20782"/>
                </a:lnTo>
                <a:lnTo>
                  <a:pt x="9966" y="9966"/>
                </a:lnTo>
                <a:lnTo>
                  <a:pt x="20782" y="2674"/>
                </a:lnTo>
                <a:lnTo>
                  <a:pt x="34028" y="0"/>
                </a:lnTo>
                <a:lnTo>
                  <a:pt x="3630715" y="0"/>
                </a:lnTo>
                <a:lnTo>
                  <a:pt x="3664084" y="27358"/>
                </a:lnTo>
                <a:lnTo>
                  <a:pt x="3664744" y="34028"/>
                </a:lnTo>
                <a:lnTo>
                  <a:pt x="3664744" y="1998725"/>
                </a:lnTo>
                <a:lnTo>
                  <a:pt x="3662070" y="2011971"/>
                </a:lnTo>
                <a:lnTo>
                  <a:pt x="3654777" y="2022787"/>
                </a:lnTo>
                <a:lnTo>
                  <a:pt x="3643961" y="2030079"/>
                </a:lnTo>
                <a:lnTo>
                  <a:pt x="3630715" y="2032753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494303" y="2205569"/>
            <a:ext cx="3228340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50" b="1">
                <a:solidFill>
                  <a:srgbClr val="38383C"/>
                </a:solidFill>
                <a:latin typeface="Times New Roman"/>
                <a:cs typeface="Times New Roman"/>
              </a:rPr>
              <a:t>Smarter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AI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behavioral</a:t>
            </a:r>
            <a:r>
              <a:rPr dirty="0" sz="1750" spc="8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models</a:t>
            </a:r>
            <a:r>
              <a:rPr dirty="0" sz="1750" spc="500">
                <a:solidFill>
                  <a:srgbClr val="38383C"/>
                </a:solidFill>
                <a:latin typeface="Microsoft Sans Serif"/>
                <a:cs typeface="Microsoft Sans Serif"/>
              </a:rPr>
              <a:t> 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tailor</a:t>
            </a:r>
            <a:r>
              <a:rPr dirty="0" sz="1750" spc="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routes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4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people,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not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38383C"/>
                </a:solidFill>
                <a:latin typeface="Microsoft Sans Serif"/>
                <a:cs typeface="Microsoft Sans Serif"/>
              </a:rPr>
              <a:t>just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metrics.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171747" y="2002631"/>
            <a:ext cx="3665220" cy="2033270"/>
          </a:xfrm>
          <a:custGeom>
            <a:avLst/>
            <a:gdLst/>
            <a:ahLst/>
            <a:cxnLst/>
            <a:rect l="l" t="t" r="r" b="b"/>
            <a:pathLst>
              <a:path w="3665219" h="2033270">
                <a:moveTo>
                  <a:pt x="3630834" y="2032753"/>
                </a:moveTo>
                <a:lnTo>
                  <a:pt x="34028" y="2032753"/>
                </a:lnTo>
                <a:lnTo>
                  <a:pt x="20783" y="2030079"/>
                </a:lnTo>
                <a:lnTo>
                  <a:pt x="9966" y="2022787"/>
                </a:lnTo>
                <a:lnTo>
                  <a:pt x="2674" y="2011971"/>
                </a:lnTo>
                <a:lnTo>
                  <a:pt x="0" y="1998725"/>
                </a:lnTo>
                <a:lnTo>
                  <a:pt x="0" y="34028"/>
                </a:lnTo>
                <a:lnTo>
                  <a:pt x="2674" y="20782"/>
                </a:lnTo>
                <a:lnTo>
                  <a:pt x="9966" y="9966"/>
                </a:lnTo>
                <a:lnTo>
                  <a:pt x="20783" y="2674"/>
                </a:lnTo>
                <a:lnTo>
                  <a:pt x="34028" y="0"/>
                </a:lnTo>
                <a:lnTo>
                  <a:pt x="3630834" y="0"/>
                </a:lnTo>
                <a:lnTo>
                  <a:pt x="3664203" y="27358"/>
                </a:lnTo>
                <a:lnTo>
                  <a:pt x="3664863" y="34028"/>
                </a:lnTo>
                <a:lnTo>
                  <a:pt x="3664863" y="1998725"/>
                </a:lnTo>
                <a:lnTo>
                  <a:pt x="3662189" y="2011971"/>
                </a:lnTo>
                <a:lnTo>
                  <a:pt x="3654896" y="2022787"/>
                </a:lnTo>
                <a:lnTo>
                  <a:pt x="3644080" y="2030079"/>
                </a:lnTo>
                <a:lnTo>
                  <a:pt x="3630834" y="2032753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85862" y="2205569"/>
            <a:ext cx="3000375" cy="16535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38383C"/>
                </a:solidFill>
                <a:latin typeface="Times New Roman"/>
                <a:cs typeface="Times New Roman"/>
              </a:rPr>
              <a:t>Faster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3420"/>
              </a:lnSpc>
              <a:spcBef>
                <a:spcPts val="50"/>
              </a:spcBef>
            </a:pP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Improved</a:t>
            </a:r>
            <a:r>
              <a:rPr dirty="0" sz="1750" spc="19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preprocessing</a:t>
            </a:r>
            <a:r>
              <a:rPr dirty="0" sz="1750" spc="19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5">
                <a:solidFill>
                  <a:srgbClr val="38383C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hybrid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cut</a:t>
            </a:r>
            <a:r>
              <a:rPr dirty="0" sz="1750" spc="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38383C"/>
                </a:solidFill>
                <a:latin typeface="Microsoft Sans Serif"/>
                <a:cs typeface="Microsoft Sans Serif"/>
              </a:rPr>
              <a:t>query </a:t>
            </a:r>
            <a:r>
              <a:rPr dirty="0" sz="1750" spc="50">
                <a:solidFill>
                  <a:srgbClr val="38383C"/>
                </a:solidFill>
                <a:latin typeface="Microsoft Sans Serif"/>
                <a:cs typeface="Microsoft Sans Serif"/>
              </a:rPr>
              <a:t>times</a:t>
            </a:r>
            <a:r>
              <a:rPr dirty="0" sz="1750" spc="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further.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280189" y="4262198"/>
            <a:ext cx="7556500" cy="1670050"/>
          </a:xfrm>
          <a:custGeom>
            <a:avLst/>
            <a:gdLst/>
            <a:ahLst/>
            <a:cxnLst/>
            <a:rect l="l" t="t" r="r" b="b"/>
            <a:pathLst>
              <a:path w="7556500" h="1670050">
                <a:moveTo>
                  <a:pt x="7522389" y="1669852"/>
                </a:moveTo>
                <a:lnTo>
                  <a:pt x="34031" y="1669852"/>
                </a:lnTo>
                <a:lnTo>
                  <a:pt x="20784" y="1667178"/>
                </a:lnTo>
                <a:lnTo>
                  <a:pt x="9967" y="1659884"/>
                </a:lnTo>
                <a:lnTo>
                  <a:pt x="2674" y="1649067"/>
                </a:lnTo>
                <a:lnTo>
                  <a:pt x="0" y="1635820"/>
                </a:lnTo>
                <a:lnTo>
                  <a:pt x="0" y="34031"/>
                </a:lnTo>
                <a:lnTo>
                  <a:pt x="2674" y="20785"/>
                </a:lnTo>
                <a:lnTo>
                  <a:pt x="9967" y="9967"/>
                </a:lnTo>
                <a:lnTo>
                  <a:pt x="20784" y="2674"/>
                </a:lnTo>
                <a:lnTo>
                  <a:pt x="34031" y="0"/>
                </a:lnTo>
                <a:lnTo>
                  <a:pt x="7522389" y="0"/>
                </a:lnTo>
                <a:lnTo>
                  <a:pt x="7555760" y="27361"/>
                </a:lnTo>
                <a:lnTo>
                  <a:pt x="7556420" y="34031"/>
                </a:lnTo>
                <a:lnTo>
                  <a:pt x="7556420" y="1635820"/>
                </a:lnTo>
                <a:lnTo>
                  <a:pt x="7553746" y="1649067"/>
                </a:lnTo>
                <a:lnTo>
                  <a:pt x="7546453" y="1659884"/>
                </a:lnTo>
                <a:lnTo>
                  <a:pt x="7535636" y="1667178"/>
                </a:lnTo>
                <a:lnTo>
                  <a:pt x="7522389" y="1669852"/>
                </a:lnTo>
                <a:close/>
              </a:path>
            </a:pathLst>
          </a:custGeom>
          <a:solidFill>
            <a:srgbClr val="E0E0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267489" y="4465137"/>
            <a:ext cx="7336155" cy="286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100"/>
              </a:spcBef>
            </a:pPr>
            <a:r>
              <a:rPr dirty="0" sz="2200" spc="50" b="1">
                <a:solidFill>
                  <a:srgbClr val="38383C"/>
                </a:solidFill>
                <a:latin typeface="Times New Roman"/>
                <a:cs typeface="Times New Roman"/>
              </a:rPr>
              <a:t>More</a:t>
            </a:r>
            <a:r>
              <a:rPr dirty="0" sz="2200" spc="-65" b="1">
                <a:solidFill>
                  <a:srgbClr val="38383C"/>
                </a:solidFill>
                <a:latin typeface="Times New Roman"/>
                <a:cs typeface="Times New Roman"/>
              </a:rPr>
              <a:t> </a:t>
            </a:r>
            <a:r>
              <a:rPr dirty="0" sz="2200" spc="95" b="1">
                <a:solidFill>
                  <a:srgbClr val="38383C"/>
                </a:solidFill>
                <a:latin typeface="Times New Roman"/>
                <a:cs typeface="Times New Roman"/>
              </a:rPr>
              <a:t>human</a:t>
            </a:r>
            <a:endParaRPr sz="2200">
              <a:latin typeface="Times New Roman"/>
              <a:cs typeface="Times New Roman"/>
            </a:endParaRPr>
          </a:p>
          <a:p>
            <a:pPr marL="239395" marR="5080">
              <a:lnSpc>
                <a:spcPts val="3420"/>
              </a:lnSpc>
              <a:spcBef>
                <a:spcPts val="250"/>
              </a:spcBef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Designing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 routes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that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feel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natural—balancing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38383C"/>
                </a:solidFill>
                <a:latin typeface="Microsoft Sans Serif"/>
                <a:cs typeface="Microsoft Sans Serif"/>
              </a:rPr>
              <a:t>comfort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1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accessibility.</a:t>
            </a:r>
            <a:endParaRPr sz="1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750">
              <a:latin typeface="Microsoft Sans Serif"/>
              <a:cs typeface="Microsoft Sans Serif"/>
            </a:endParaRPr>
          </a:p>
          <a:p>
            <a:pPr marL="12700" marR="240665">
              <a:lnSpc>
                <a:spcPct val="162900"/>
              </a:lnSpc>
            </a:pP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Goal: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seamless,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personalized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navigation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38383C"/>
                </a:solidFill>
                <a:latin typeface="Microsoft Sans Serif"/>
                <a:cs typeface="Microsoft Sans Serif"/>
              </a:rPr>
              <a:t>that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saves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38383C"/>
                </a:solidFill>
                <a:latin typeface="Microsoft Sans Serif"/>
                <a:cs typeface="Microsoft Sans Serif"/>
              </a:rPr>
              <a:t>time,</a:t>
            </a:r>
            <a:r>
              <a:rPr dirty="0" sz="1750" spc="7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energy,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25">
                <a:solidFill>
                  <a:srgbClr val="38383C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improves</a:t>
            </a:r>
            <a:r>
              <a:rPr dirty="0" sz="175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travel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experience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38383C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160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everyone.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38383C"/>
                </a:solidFill>
                <a:latin typeface="Microsoft Sans Serif"/>
                <a:cs typeface="Microsoft Sans Serif"/>
              </a:rPr>
              <a:t>Let’s</a:t>
            </a:r>
            <a:r>
              <a:rPr dirty="0" sz="1750" spc="165">
                <a:solidFill>
                  <a:srgbClr val="38383C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38383C"/>
                </a:solidFill>
                <a:latin typeface="Microsoft Sans Serif"/>
                <a:cs typeface="Microsoft Sans Serif"/>
              </a:rPr>
              <a:t>navigate</a:t>
            </a:r>
            <a:r>
              <a:rPr dirty="0" sz="1750" spc="500">
                <a:solidFill>
                  <a:srgbClr val="38383C"/>
                </a:solidFill>
                <a:latin typeface="Microsoft Sans Serif"/>
                <a:cs typeface="Microsoft Sans Serif"/>
              </a:rPr>
              <a:t>     </a:t>
            </a:r>
            <a:r>
              <a:rPr dirty="0" sz="1750" spc="95">
                <a:solidFill>
                  <a:srgbClr val="38383C"/>
                </a:solidFill>
                <a:latin typeface="Microsoft Sans Serif"/>
                <a:cs typeface="Microsoft Sans Serif"/>
              </a:rPr>
              <a:t>smarter—</a:t>
            </a:r>
            <a:r>
              <a:rPr dirty="0" sz="1750" spc="75">
                <a:solidFill>
                  <a:srgbClr val="38383C"/>
                </a:solidFill>
                <a:latin typeface="Microsoft Sans Serif"/>
                <a:cs typeface="Microsoft Sans Serif"/>
              </a:rPr>
              <a:t>together.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— Navigating the Shortest Path Between Cities</dc:title>
  <dcterms:created xsi:type="dcterms:W3CDTF">2026-02-23T05:01:54Z</dcterms:created>
  <dcterms:modified xsi:type="dcterms:W3CDTF">2026-02-23T05:01:54Z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2026-02-23T00:00:00Z</vt:filetime>
  </property>
</Properties>
</file>